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03: Procesos del Software y Ciclos de Vida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significado de proceso · Modelos de proceso · Iteración de procesos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fundamentales · Herramientas de modelado · Ayuda automatizada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8778240" cy="566928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709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base: Pressman, Ingeniería del Software (6.ª ed.) · Sommerville, Ingeniería de Software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03 · Procesos del Software y Ciclos de Vida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clase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18872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1887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0" y="118872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significado de proceso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574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0" y="205740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proceso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260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292608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de procesos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94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86000" y="379476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Especificación, diseño, implementación, validación y evolución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6634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286000" y="466344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técnicas para modelado de procesos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5532120"/>
            <a:ext cx="10515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5321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286000" y="553212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automatizada al proceso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03 · Procesos del Software y Ciclos de Vida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significado de proceso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proceso de software y cuál es su marco de trabajo genérico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El significado de proceso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proceso de software?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10149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de software es un conjunto de actividades, acciones y tareas que se llevan a cabo para transformar una necesidad del usuario en un producto de software.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conceptos que conviene distinguir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41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general de actividades a realizar (el "qué" y en qué orden).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384048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4041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conjunto específico de métodos y prácticas para llevar a cabo el proceso (el "cómo").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384048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404164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proceso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45262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representación abstracta de un proceso, usada para compararlo o elegirlo (cascada, incremental, etc.).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2 — El proceso: una visión general, pp. 22–47.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El significado de proceso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de trabajo genérico del proceso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Pressman propone cinco actividades genéricas, presentes en todo proceso de software: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971446" cy="155448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83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611526" y="226771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7558" y="1691640"/>
            <a:ext cx="197144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7286" y="1783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977286" y="265176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39005" y="226771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5037" y="1691640"/>
            <a:ext cx="1971446" cy="155448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31750">
            <a:solidFill>
              <a:srgbClr val="9A4B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4765" y="1783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204765" y="265176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066483" y="226771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22515" y="1691640"/>
            <a:ext cx="1971446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32243" y="1783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432243" y="265176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93962" y="2267712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49994" y="1691640"/>
            <a:ext cx="1971446" cy="1554480"/>
          </a:xfrm>
          <a:prstGeom prst="roundRect">
            <a:avLst>
              <a:gd name="adj" fmla="val 4706"/>
            </a:avLst>
          </a:prstGeom>
          <a:solidFill>
            <a:srgbClr val="F2F4F8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9722" y="1783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59722" y="2651760"/>
            <a:ext cx="1751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881360" cy="214884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"de la sombrilla"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realizan a lo largo de todo el proceso, cubriéndolo como un paraguas: gestión de proyectos, gestión de riesgos, aseguramiento de la calidad, gestión de configuración, revisiones técnicas y medición, entre otras.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2, pp. 22–47.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 · El significado de proceso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proceso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 formas de organizar las actividades del proceso de software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Modelos de proceso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 cascada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99339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27048" y="2423160"/>
            <a:ext cx="219456" cy="201168"/>
          </a:xfrm>
          <a:prstGeom prst="downArrow">
            <a:avLst/>
          </a:prstGeom>
          <a:solidFill>
            <a:srgbClr val="44506B"/>
          </a:solidFill>
          <a:ln/>
        </p:spPr>
      </p:sp>
      <p:sp>
        <p:nvSpPr>
          <p:cNvPr id="6" name="Shape 4"/>
          <p:cNvSpPr/>
          <p:nvPr/>
        </p:nvSpPr>
        <p:spPr>
          <a:xfrm>
            <a:off x="2862072" y="1783080"/>
            <a:ext cx="199339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862072" y="178308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2743200"/>
            <a:ext cx="219456" cy="201168"/>
          </a:xfrm>
          <a:prstGeom prst="downArrow">
            <a:avLst/>
          </a:prstGeom>
          <a:solidFill>
            <a:srgbClr val="44506B"/>
          </a:solidFill>
          <a:ln/>
        </p:spPr>
      </p:sp>
      <p:sp>
        <p:nvSpPr>
          <p:cNvPr id="9" name="Shape 7"/>
          <p:cNvSpPr/>
          <p:nvPr/>
        </p:nvSpPr>
        <p:spPr>
          <a:xfrm>
            <a:off x="5084064" y="2103120"/>
            <a:ext cx="199339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64" y="210312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71032" y="3063240"/>
            <a:ext cx="219456" cy="201168"/>
          </a:xfrm>
          <a:prstGeom prst="downArrow">
            <a:avLst/>
          </a:prstGeom>
          <a:solidFill>
            <a:srgbClr val="44506B"/>
          </a:solidFill>
          <a:ln/>
        </p:spPr>
      </p:sp>
      <p:sp>
        <p:nvSpPr>
          <p:cNvPr id="12" name="Shape 10"/>
          <p:cNvSpPr/>
          <p:nvPr/>
        </p:nvSpPr>
        <p:spPr>
          <a:xfrm>
            <a:off x="7306056" y="2423160"/>
            <a:ext cx="199339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06056" y="242316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3383280"/>
            <a:ext cx="219456" cy="201168"/>
          </a:xfrm>
          <a:prstGeom prst="downArrow">
            <a:avLst/>
          </a:prstGeom>
          <a:solidFill>
            <a:srgbClr val="44506B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8048" y="2743200"/>
            <a:ext cx="199339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8048" y="2743200"/>
            <a:ext cx="1993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150876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43400"/>
            <a:ext cx="10332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secuencial y lineal: cada actividad debe completarse antes de iniciar la siguiente. Es el modelo más antiguo y aún útil cuando los requisitos están bien definidos desde el principio.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3 — Modelos prescriptivos de proceso, pp. 48–76.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Modelos de proceso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incrementales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Combinan elementos secuenciales con elementos iterativos: cada incremento entrega una porción funcional del producto, cada vez más completa.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9A4B0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1 — funcionalidad básica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538728"/>
            <a:ext cx="55778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387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2 — funcionalidad ampliada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379976"/>
            <a:ext cx="7955280" cy="685800"/>
          </a:xfrm>
          <a:prstGeom prst="roundRect">
            <a:avLst>
              <a:gd name="adj" fmla="val 8000"/>
            </a:avLst>
          </a:prstGeom>
          <a:solidFill>
            <a:srgbClr val="0F6A6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7997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3 — funcionalidad completa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31266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incremento es entregable y utilizable por el cliente, aunque no tenga todavía toda la funcionalidad final.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3, pp. 48–76.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Modelos de proceso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evolutivos: prototipos y espiral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construye una versión parcial y rápida del sistema para que el cliente visualice y valide requisitos poco claros, antes de construir el producto final.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8862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cuando: el cliente conoce los objetivos generales, pero no puede detallar entradas, procesos o salidas.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257800" cy="4297680"/>
          </a:xfrm>
          <a:prstGeom prst="roundRect">
            <a:avLst>
              <a:gd name="adj" fmla="val 1277"/>
            </a:avLst>
          </a:prstGeom>
          <a:solidFill>
            <a:srgbClr val="F2F4F8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 espiral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la naturaleza iterativa del prototipado con el control del modelo en cascada, agregando análisis de riesgo explícito en cada vuelta de la espiral.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38862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cuando: el proyecto tiene alto riesgo y se necesita evaluarlo en cada iteración antes de seguir invirtiendo.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3, pp. 48–76.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Modelos de proceso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concurrentes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554480"/>
          </a:xfrm>
          <a:prstGeom prst="roundRect">
            <a:avLst>
              <a:gd name="adj" fmla="val 3529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Representan las actividades del proceso ocurriendo en paralelo, no en secuencia estricta: mientras se modela una parte del sistema, otra ya puede estar en construcción.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993392" cy="822960"/>
          </a:xfrm>
          <a:prstGeom prst="roundRect">
            <a:avLst>
              <a:gd name="adj" fmla="val 50000"/>
            </a:avLst>
          </a:prstGeom>
          <a:solidFill>
            <a:srgbClr val="F2F4F8"/>
          </a:solidFill>
          <a:ln w="25400">
            <a:solidFill>
              <a:srgbClr val="445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espera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62072" y="3383280"/>
            <a:ext cx="1993392" cy="822960"/>
          </a:xfrm>
          <a:prstGeom prst="roundRect">
            <a:avLst>
              <a:gd name="adj" fmla="val 50000"/>
            </a:avLst>
          </a:prstGeom>
          <a:solidFill>
            <a:srgbClr val="F2F4F8"/>
          </a:solidFill>
          <a:ln w="25400">
            <a:solidFill>
              <a:srgbClr val="445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33832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desarrollo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84064" y="3383280"/>
            <a:ext cx="1993392" cy="822960"/>
          </a:xfrm>
          <a:prstGeom prst="roundRect">
            <a:avLst>
              <a:gd name="adj" fmla="val 50000"/>
            </a:avLst>
          </a:prstGeom>
          <a:solidFill>
            <a:srgbClr val="F2F4F8"/>
          </a:solidFill>
          <a:ln w="25400">
            <a:solidFill>
              <a:srgbClr val="4450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33832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revisión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06056" y="3383280"/>
            <a:ext cx="1993392" cy="822960"/>
          </a:xfrm>
          <a:prstGeom prst="roundRect">
            <a:avLst>
              <a:gd name="adj" fmla="val 50000"/>
            </a:avLst>
          </a:prstGeom>
          <a:solidFill>
            <a:srgbClr val="F2F4F8"/>
          </a:solidFill>
          <a:ln w="25400">
            <a:solidFill>
              <a:srgbClr val="445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06056" y="33832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prueba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28048" y="3383280"/>
            <a:ext cx="1993392" cy="822960"/>
          </a:xfrm>
          <a:prstGeom prst="roundRect">
            <a:avLst>
              <a:gd name="adj" fmla="val 50000"/>
            </a:avLst>
          </a:prstGeom>
          <a:solidFill>
            <a:srgbClr val="0F6A63"/>
          </a:solidFill>
          <a:ln w="25400">
            <a:solidFill>
              <a:srgbClr val="0F6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8048" y="33832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elemento del sistema puede estar en distintos estados al mismo tiempo que otros elementos.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3, pp. 48–76.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· Modelos de proceso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de procesos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(casi) todo proceso moderno vuelve una y otra vez sobre lo ya hecho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Iteración de procesos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iterar?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10149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requisitos cambian, el cliente aprende sobre lo que necesita a medida que ve resultados, y los riesgos se reducen si se revisan avances parciales en lugar de esperar al final.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64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requisitos evolucionan durante el proyecto, no solo al principio.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306324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264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37490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resultados parciales ayuda al cliente a precisar lo que realmente necesita.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306324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2644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37490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un problema en una iteración temprana es mucho más barato que al final.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incrementales, evolutivos y concurrentes vistos antes son, en el fondo, distintas formas de organizar esa iteración. Las metodologías ágiles (más adelante en la materia) la llevan al extremo.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3, pp. 48–76.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· Iteración de procesos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Especificación, diseño, implementación,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y evolución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actividades fundamentales de todo proceso de software, según Sommerville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Actividades fundamentales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actividades fundamentales del proceso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 identifica cuatro actividades presentes en cualquier proceso de software: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qué debe hacer el sistema y las restricciones sobre su operación.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31750">
            <a:solidFill>
              <a:srgbClr val="0F6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1188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e implementación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108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Producir el sistema que cumple con la especificación.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31750">
            <a:solidFill>
              <a:srgbClr val="9A4B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4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108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que el software hace lo que el cliente quiere.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4F8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81160" y="23774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81160" y="310896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 el software en respuesta a necesidades cambiantes del cliente o del mercado.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suena parecido al "ciclo del software" de la Unidad 1? No es casualidad: son dos formas de nombrar prácticamente las mismas fases.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Sommerville, Ingeniería de Software, Cap. 4 — Procesos del software.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· Actividades fundamentales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y técnicas para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 de procesos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representar el proceso en sí mismo, no el sistema que se construye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· Modelado de procesos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Representar el proceso, no el sistema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como en la Unidad 2 modelamos sistemas, acá el objeto a modelar es el propio proceso de trabajo: quién hace qué, en qué orden y con qué entregables.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flujo de proceso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46320" y="29260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Muestran la secuencia de actividades y las decisiones que la alteran.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23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de proceso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846320" y="40233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Describen un problema recurrente del proceso y una solución probada, reutilizable en distintos proyectos.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120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actividad (UML)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846320" y="51206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Notación formal para representar flujos de trabajo, con puntos de decisión y paralelismo.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2, pp. 22–47.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· Modelado de procesos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automatizada al proceso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que asisten y automatizan actividades del proceso de software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· Ayuda automatizada al proceso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CASE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(Computer-Aided Software Engineering): herramientas de software que automatizan o asisten una o más actividades del proceso de desarrollo.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4290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035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Upper-CASE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Apoyan las primeras etapas: análisis, diseño y modelado (ej. herramientas de diagramación UML).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2834640"/>
            <a:ext cx="34290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035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Lower-CASE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3520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Apoyan las etapas finales: generación de código, pruebas y depuración.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38160" y="2834640"/>
            <a:ext cx="34290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0358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I-CASE (integradas)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66760" y="35204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Cubren el proceso completo, de punta a punta, en un mismo entorno.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actuales: herramientas de gestión de tareas y tableros (Jira, Trello), control de versiones (Git), integración continua, gestión de requisitos, y asistentes de código con IA.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Pressman, Cap. 2, pp. 22–47.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· Ayuda automatizada al proceso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bibliográficas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Pressman, Roger 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del Software: Un Enfoque Práctico (6.ª edición)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 — "El proceso: una visión general", pp. 22–47, y Capítulo 3 — "Modelos prescriptivos de proceso", pp. 48–76. Fuente principal de esta unidad.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7CC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40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Software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 — "Procesos del software" (numeración de ediciones recientes; puede variar). Fuente principal para las cuatro actividades fundamentales (Tema 4).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03 · Procesos del Software y Ciclos de Vida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F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resumen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 único proceso correcto: existen distintos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modelos, y cada proyecto exige elegir el más adecuado.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182112"/>
            <a:ext cx="146304" cy="146304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9923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de software organiza las actividades genéricas (comunicación, planeación, modelado, construcción, despliegue) más las actividades de la sombrilla.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50792"/>
            <a:ext cx="146304" cy="146304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86791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modelos de proceso (cascada, incremental, evolutivos, concurrentes) son formas distintas de organizar esas actividades, cada uno con sus propios costos y beneficios.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919472"/>
            <a:ext cx="146304" cy="146304"/>
          </a:xfrm>
          <a:prstGeom prst="ellipse">
            <a:avLst/>
          </a:prstGeom>
          <a:solidFill>
            <a:srgbClr val="9A4B0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73659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iteración, la especificación/diseño/implementación/validación/evolución, y las herramientas CASE atraviesan a todos los modelos por igual.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paso: ejercitario de la Unidad 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03 · Procesos del Software y Ciclos de Vida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2026-09-08T23:08:04Z</dcterms:created>
  <dcterms:modified xsi:type="dcterms:W3CDTF">2026-09-08T23:08:04Z</dcterms:modified>
</cp:coreProperties>
</file>